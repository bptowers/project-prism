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"/>
            <a:ext cx="9144000" cy="54864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PRISM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Global Revenue Intelligence Engine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2194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1: Win/Loss Analysis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2834640"/>
            <a:ext cx="8229600" cy="18288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3017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Team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338328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Pete Mansel (CRO)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Mike Duda (VP RevOps)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Brad Towers (SE Lead UK/ANZ)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Steve Logan (CIO)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61B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Rich, Insight Poor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41148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Thousands of data points across global regions, but our Win/Loss intelligence is manually dependent. Deal review notes and competitor intelligence are locked in text fields — impossible for our teams to manually read and synthesize everything.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algn="l"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need automated intelligence to surface patterns, detect at-risk deals, and guide strategic revenue decisions in real-time.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754880" y="914400"/>
            <a:ext cx="1828800" cy="1645920"/>
          </a:xfrm>
          <a:prstGeom prst="rect">
            <a:avLst/>
          </a:prstGeom>
          <a:solidFill>
            <a:srgbClr val="1E2761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846320" y="109728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100-500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846320" y="182880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Opps Per Week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858000" y="914400"/>
            <a:ext cx="1828800" cy="1645920"/>
          </a:xfrm>
          <a:prstGeom prst="rect">
            <a:avLst/>
          </a:prstGeom>
          <a:solidFill>
            <a:srgbClr val="1E2761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0" y="109728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6949440" y="182880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Regions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0" y="2834640"/>
            <a:ext cx="1828800" cy="1645920"/>
          </a:xfrm>
          <a:prstGeom prst="rect">
            <a:avLst/>
          </a:prstGeom>
          <a:solidFill>
            <a:srgbClr val="1E2761"/>
          </a:solidFill>
          <a:ln w="25400">
            <a:solidFill>
              <a:srgbClr val="F8514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301752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8514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846320" y="374904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Insights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858000" y="2834640"/>
            <a:ext cx="1828800" cy="1645920"/>
          </a:xfrm>
          <a:prstGeom prst="rect">
            <a:avLst/>
          </a:prstGeom>
          <a:solidFill>
            <a:srgbClr val="1E2761"/>
          </a:solidFill>
          <a:ln w="25400">
            <a:solidFill>
              <a:srgbClr val="F8514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49440" y="301752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8514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?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949440" y="374904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Deals At Risk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1B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AI-Driven Revenue Intelligence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828800" cy="3474720"/>
          </a:xfrm>
          <a:prstGeom prst="rect">
            <a:avLst/>
          </a:prstGeom>
          <a:solidFill>
            <a:srgbClr val="1E2761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914400"/>
            <a:ext cx="54864" cy="3474720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972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3FB9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Ingest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2011680"/>
            <a:ext cx="164592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raw text from Win/Loss notes and Deal Review forms automatically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560320" y="914400"/>
            <a:ext cx="1828800" cy="3474720"/>
          </a:xfrm>
          <a:prstGeom prst="rect">
            <a:avLst/>
          </a:prstGeom>
          <a:solidFill>
            <a:srgbClr val="1E2761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60320" y="914400"/>
            <a:ext cx="54864" cy="3474720"/>
          </a:xfrm>
          <a:prstGeom prst="rect">
            <a:avLst/>
          </a:prstGeom>
          <a:solidFill>
            <a:srgbClr val="D29922"/>
          </a:solidFill>
          <a:ln/>
        </p:spPr>
      </p:sp>
      <p:sp>
        <p:nvSpPr>
          <p:cNvPr id="10" name="Text 8"/>
          <p:cNvSpPr/>
          <p:nvPr/>
        </p:nvSpPr>
        <p:spPr>
          <a:xfrm>
            <a:off x="2651760" y="10972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D299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651760" y="15544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Analyze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651760" y="2011680"/>
            <a:ext cx="164592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LLMs to read context, sentiment, and nuance across every opportunity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63440" y="914400"/>
            <a:ext cx="1828800" cy="3474720"/>
          </a:xfrm>
          <a:prstGeom prst="rect">
            <a:avLst/>
          </a:prstGeom>
          <a:solidFill>
            <a:srgbClr val="1E2761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63440" y="914400"/>
            <a:ext cx="54864" cy="347472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15" name="Text 13"/>
          <p:cNvSpPr/>
          <p:nvPr/>
        </p:nvSpPr>
        <p:spPr>
          <a:xfrm>
            <a:off x="4754880" y="10972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754880" y="15544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Synthesize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754880" y="2011680"/>
            <a:ext cx="164592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into structured themes, cluster win/loss reasons by region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766560" y="914400"/>
            <a:ext cx="1828800" cy="3474720"/>
          </a:xfrm>
          <a:prstGeom prst="rect">
            <a:avLst/>
          </a:prstGeom>
          <a:solidFill>
            <a:srgbClr val="1E2761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766560" y="914400"/>
            <a:ext cx="54864" cy="347472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0" y="10972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858000" y="15544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Report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858000" y="2011680"/>
            <a:ext cx="164592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weekly Global Intel Report — dashboard + auto-gen deck for ELT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61B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Win/Loss Intelligence MVP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87552"/>
            <a:ext cx="137160" cy="137160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914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Win/Loss Theme Analysis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85800" y="11887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 breakdown of why we win/lose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901952"/>
            <a:ext cx="137160" cy="137160"/>
          </a:xfrm>
          <a:prstGeom prst="ellipse">
            <a:avLst/>
          </a:prstGeom>
          <a:solidFill>
            <a:srgbClr val="D29922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828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At-Risk Deal Detection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21031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scans for risk markers in notes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816352"/>
            <a:ext cx="137160" cy="13716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2743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 Intelligence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85800" y="30175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extraction of competitor mentions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730752"/>
            <a:ext cx="137160" cy="137160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3657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Signal Detection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85800" y="39319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detection of emerging objections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0" y="914400"/>
            <a:ext cx="411480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0" y="96012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754880" y="118872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SFDC Win/Loss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Notes, Deal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Forms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0" y="1828800"/>
            <a:ext cx="411480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0" y="187452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754880" y="210312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Dashboard, Auto-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 PPTX, Email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0" y="2743200"/>
            <a:ext cx="411480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278892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754880" y="301752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NA, UK, ANZ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0" y="3657600"/>
            <a:ext cx="411480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0" y="370332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Cadence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754880" y="393192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run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61B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Architecture — Phase 1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822960"/>
          </a:xfrm>
          <a:prstGeom prst="rect">
            <a:avLst/>
          </a:prstGeom>
          <a:solidFill>
            <a:srgbClr val="1E2761"/>
          </a:solidFill>
          <a:ln w="25400">
            <a:solidFill>
              <a:srgbClr val="CADCF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914400"/>
            <a:ext cx="73152" cy="82296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9601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SOURCES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1207008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Win/Loss Notes | Deal Review Forms | Clari Copilot (Phase 2)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675120" y="14630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RevOps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874520"/>
            <a:ext cx="8229600" cy="822960"/>
          </a:xfrm>
          <a:prstGeom prst="rect">
            <a:avLst/>
          </a:prstGeom>
          <a:solidFill>
            <a:srgbClr val="1E2761"/>
          </a:solidFill>
          <a:ln w="25400">
            <a:solidFill>
              <a:srgbClr val="3FB95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874520"/>
            <a:ext cx="73152" cy="822960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19202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FB9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INGESTION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85800" y="2167128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Export | Parse &amp; Normalize | PII Flagging | Validation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675120" y="24231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Mike / RevOps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2834640"/>
            <a:ext cx="8229600" cy="822960"/>
          </a:xfrm>
          <a:prstGeom prst="rect">
            <a:avLst/>
          </a:prstGeom>
          <a:solidFill>
            <a:srgbClr val="1E2761"/>
          </a:solidFill>
          <a:ln w="25400">
            <a:solidFill>
              <a:srgbClr val="D4A57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834640"/>
            <a:ext cx="73152" cy="82296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28803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LLM ENGINE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85800" y="3127248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Extraction | Risk Detection | Competitor Intel | Market Signals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675120" y="31089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Provider-Agnostic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675120" y="33832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Brad / SE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3794760"/>
            <a:ext cx="8229600" cy="822960"/>
          </a:xfrm>
          <a:prstGeom prst="rect">
            <a:avLst/>
          </a:prstGeom>
          <a:solidFill>
            <a:srgbClr val="1E2761"/>
          </a:solidFill>
          <a:ln w="25400">
            <a:solidFill>
              <a:srgbClr val="F8514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3794760"/>
            <a:ext cx="73152" cy="822960"/>
          </a:xfrm>
          <a:prstGeom prst="rect">
            <a:avLst/>
          </a:prstGeom>
          <a:solidFill>
            <a:srgbClr val="F85149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38404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8514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OUTPUT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85800" y="4087368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 | Auto-Gen PPTX | Email Distribution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675120" y="43434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61B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Provider-Agnostic by Design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providers via configuration — no code changes required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14400" y="1371600"/>
            <a:ext cx="2194560" cy="2011680"/>
          </a:xfrm>
          <a:prstGeom prst="rect">
            <a:avLst/>
          </a:prstGeom>
          <a:solidFill>
            <a:srgbClr val="1E2761"/>
          </a:solidFill>
          <a:ln w="25400">
            <a:solidFill>
              <a:srgbClr val="D4A57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371600"/>
            <a:ext cx="2194560" cy="73152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15544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Claude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51560" y="19659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Default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51560" y="237744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3200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3383280" y="1371600"/>
            <a:ext cx="2194560" cy="2011680"/>
          </a:xfrm>
          <a:prstGeom prst="rect">
            <a:avLst/>
          </a:prstGeom>
          <a:solidFill>
            <a:srgbClr val="1E2761"/>
          </a:solidFill>
          <a:ln w="25400">
            <a:solidFill>
              <a:srgbClr val="CADCF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83280" y="1371600"/>
            <a:ext cx="2194560" cy="73152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11" name="Text 9"/>
          <p:cNvSpPr/>
          <p:nvPr/>
        </p:nvSpPr>
        <p:spPr>
          <a:xfrm>
            <a:off x="3520440" y="15544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GPT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520440" y="19659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520440" y="237744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3200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3200" dirty="0"/>
          </a:p>
        </p:txBody>
      </p:sp>
      <p:sp>
        <p:nvSpPr>
          <p:cNvPr id="14" name="Shape 12"/>
          <p:cNvSpPr/>
          <p:nvPr/>
        </p:nvSpPr>
        <p:spPr>
          <a:xfrm>
            <a:off x="5852160" y="1371600"/>
            <a:ext cx="2194560" cy="2011680"/>
          </a:xfrm>
          <a:prstGeom prst="rect">
            <a:avLst/>
          </a:prstGeom>
          <a:solidFill>
            <a:srgbClr val="1E2761"/>
          </a:solidFill>
          <a:ln w="25400">
            <a:solidFill>
              <a:srgbClr val="CADCF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852160" y="1371600"/>
            <a:ext cx="2194560" cy="73152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16" name="Text 14"/>
          <p:cNvSpPr/>
          <p:nvPr/>
        </p:nvSpPr>
        <p:spPr>
          <a:xfrm>
            <a:off x="5989320" y="15544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Gemini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989320" y="19659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989320" y="237744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3200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3200" dirty="0"/>
          </a:p>
        </p:txBody>
      </p:sp>
      <p:sp>
        <p:nvSpPr>
          <p:cNvPr id="19" name="Shape 17"/>
          <p:cNvSpPr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D4A57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379476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common LLMProvider interface abstracts all API calls. Change provider by updating a single environment variable.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61B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End-to-End Processing Flow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508760" cy="2011680"/>
          </a:xfrm>
          <a:prstGeom prst="rect">
            <a:avLst/>
          </a:prstGeom>
          <a:solidFill>
            <a:srgbClr val="1E2761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1508760" cy="54864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8872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FB9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Export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920240"/>
            <a:ext cx="13258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data from SFDC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984248" y="1783080"/>
            <a:ext cx="1097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D4A574"/>
                </a:solidFill>
              </a:rPr>
              <a:t>→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2103120" y="1005840"/>
            <a:ext cx="1508760" cy="2011680"/>
          </a:xfrm>
          <a:prstGeom prst="rect">
            <a:avLst/>
          </a:prstGeom>
          <a:solidFill>
            <a:srgbClr val="1E2761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103120" y="1005840"/>
            <a:ext cx="1508760" cy="54864"/>
          </a:xfrm>
          <a:prstGeom prst="rect">
            <a:avLst/>
          </a:prstGeom>
          <a:solidFill>
            <a:srgbClr val="D29922"/>
          </a:solidFill>
          <a:ln/>
        </p:spPr>
      </p:sp>
      <p:sp>
        <p:nvSpPr>
          <p:cNvPr id="11" name="Text 9"/>
          <p:cNvSpPr/>
          <p:nvPr/>
        </p:nvSpPr>
        <p:spPr>
          <a:xfrm>
            <a:off x="2194560" y="118872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299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194560" y="160020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Parse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194560" y="1920240"/>
            <a:ext cx="13258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 &amp; clean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30168" y="1783080"/>
            <a:ext cx="1097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D4A574"/>
                </a:solidFill>
              </a:rPr>
              <a:t>→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3749040" y="1005840"/>
            <a:ext cx="1508760" cy="2011680"/>
          </a:xfrm>
          <a:prstGeom prst="rect">
            <a:avLst/>
          </a:prstGeom>
          <a:solidFill>
            <a:srgbClr val="1E2761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749040" y="1005840"/>
            <a:ext cx="1508760" cy="5486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17" name="Text 15"/>
          <p:cNvSpPr/>
          <p:nvPr/>
        </p:nvSpPr>
        <p:spPr>
          <a:xfrm>
            <a:off x="3840480" y="118872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840480" y="160020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Validate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840480" y="1920240"/>
            <a:ext cx="13258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quality &amp; schema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276088" y="1783080"/>
            <a:ext cx="1097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D4A574"/>
                </a:solidFill>
              </a:rPr>
              <a:t>→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5394960" y="1005840"/>
            <a:ext cx="1508760" cy="2011680"/>
          </a:xfrm>
          <a:prstGeom prst="rect">
            <a:avLst/>
          </a:prstGeom>
          <a:solidFill>
            <a:srgbClr val="1E2761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394960" y="1005840"/>
            <a:ext cx="1508760" cy="54864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0" y="118872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486400" y="160020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Analyze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486400" y="1920240"/>
            <a:ext cx="13258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processing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922008" y="1783080"/>
            <a:ext cx="1097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D4A574"/>
                </a:solidFill>
              </a:rPr>
              <a:t>→</a:t>
            </a:r>
            <a:endParaRPr lang="en-US" sz="2400" dirty="0"/>
          </a:p>
        </p:txBody>
      </p:sp>
      <p:sp>
        <p:nvSpPr>
          <p:cNvPr id="27" name="Shape 25"/>
          <p:cNvSpPr/>
          <p:nvPr/>
        </p:nvSpPr>
        <p:spPr>
          <a:xfrm>
            <a:off x="7040880" y="1005840"/>
            <a:ext cx="1508760" cy="2011680"/>
          </a:xfrm>
          <a:prstGeom prst="rect">
            <a:avLst/>
          </a:prstGeom>
          <a:solidFill>
            <a:srgbClr val="1E2761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040880" y="1005840"/>
            <a:ext cx="1508760" cy="54864"/>
          </a:xfrm>
          <a:prstGeom prst="rect">
            <a:avLst/>
          </a:prstGeom>
          <a:solidFill>
            <a:srgbClr val="F85149"/>
          </a:solidFill>
          <a:ln/>
        </p:spPr>
      </p:sp>
      <p:sp>
        <p:nvSpPr>
          <p:cNvPr id="29" name="Text 27"/>
          <p:cNvSpPr/>
          <p:nvPr/>
        </p:nvSpPr>
        <p:spPr>
          <a:xfrm>
            <a:off x="7132320" y="118872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514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132320" y="160020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Report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132320" y="1920240"/>
            <a:ext cx="13258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outputs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57200" y="3200400"/>
            <a:ext cx="8229600" cy="1645920"/>
          </a:xfrm>
          <a:prstGeom prst="rect">
            <a:avLst/>
          </a:prstGeom>
          <a:solidFill>
            <a:srgbClr val="1E2761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080" y="33375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D299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Batch Processing: 20-30 Opportunities per Run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40080" y="3749040"/>
            <a:ext cx="78638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system processes Win/Loss data in manageable batches to ensure consistent quality, avoid rate limits, and maintain audit trails. Each batch is tracked from ingestion through reporting.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61B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Weekly Global Intel Report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4114800" cy="3840480"/>
          </a:xfrm>
          <a:prstGeom prst="rect">
            <a:avLst/>
          </a:prstGeom>
          <a:solidFill>
            <a:srgbClr val="1E2761"/>
          </a:solidFill>
          <a:ln w="25400">
            <a:solidFill>
              <a:srgbClr val="3FB9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515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FB9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Top Win Themes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37490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analytics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to deploy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integration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clarity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846320" y="914400"/>
            <a:ext cx="4114800" cy="3840480"/>
          </a:xfrm>
          <a:prstGeom prst="rect">
            <a:avLst/>
          </a:prstGeom>
          <a:solidFill>
            <a:srgbClr val="1E2761"/>
          </a:solidFill>
          <a:ln w="25400">
            <a:solidFill>
              <a:srgbClr val="F8514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0" y="10515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514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Top Loss Themes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0" y="1417320"/>
            <a:ext cx="37490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complexity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vs. alternative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 mismatch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concern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4937760"/>
            <a:ext cx="82296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includes detailed regional breakdowns, competitive positioning, and actionable insights for leadership reviews.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61B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Workstreams &amp; Ownership</a:t>
            </a:r>
            <a:endParaRPr lang="en-US" sz="3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3931920"/>
        </p:xfrm>
        <a:graphic>
          <a:graphicData uri="http://schemas.openxmlformats.org/drawingml/2006/table">
            <a:tbl>
              <a:tblPr/>
              <a:tblGrid>
                <a:gridCol w="1645920"/>
                <a:gridCol w="1645920"/>
                <a:gridCol w="1645920"/>
                <a:gridCol w="329184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D11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Workstream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57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D11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Responsible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57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D11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Accountable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57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D11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Deliverable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57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Schema &amp; Export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Mike / RevOps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SFDC definitions, CSV automation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Pipeline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Brad / 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Parser, normalizer, PII flagger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 Analysis Engine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Brad / 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Provider layer, prompts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 Generation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Brad / 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Dashboard, auto-gen PPTX, email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 &amp; Hosting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Steve / 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Privacy review, hosting, API keys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61B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1 — 4-Week Sprint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920240" cy="3474720"/>
          </a:xfrm>
          <a:prstGeom prst="rect">
            <a:avLst/>
          </a:prstGeom>
          <a:solidFill>
            <a:srgbClr val="1E2761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515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Week 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1463040"/>
            <a:ext cx="16459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schema</a:t>
            </a:r>
            <a:endParaRPr lang="en-US" sz="1000" dirty="0"/>
          </a:p>
          <a:p>
            <a:pPr algn="l" marL="342900" indent="-342900">
              <a:buSzPct val="100000"/>
              <a:buChar char="•"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export setup</a:t>
            </a:r>
            <a:endParaRPr lang="en-US" sz="1000" dirty="0"/>
          </a:p>
          <a:p>
            <a:pPr algn="l" marL="342900" indent="-342900">
              <a:buSzPct val="100000"/>
              <a:buChar char="•"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review</a:t>
            </a:r>
            <a:endParaRPr lang="en-US" sz="1000" dirty="0"/>
          </a:p>
          <a:p>
            <a:pPr algn="l" marL="342900" indent="-342900">
              <a:buSzPct val="100000"/>
              <a:buChar char="•"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 pipeline build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651760" y="914400"/>
            <a:ext cx="1920240" cy="3474720"/>
          </a:xfrm>
          <a:prstGeom prst="rect">
            <a:avLst/>
          </a:prstGeom>
          <a:solidFill>
            <a:srgbClr val="1E2761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0" y="10515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Week 2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788920" y="1463040"/>
            <a:ext cx="16459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provider layer</a:t>
            </a:r>
            <a:endParaRPr lang="en-US" sz="1000" dirty="0"/>
          </a:p>
          <a:p>
            <a:pPr algn="l" marL="342900" indent="-342900">
              <a:buSzPct val="100000"/>
              <a:buChar char="•"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</a:t>
            </a:r>
            <a:endParaRPr lang="en-US" sz="1000" dirty="0"/>
          </a:p>
          <a:p>
            <a:pPr algn="l" marL="342900" indent="-342900">
              <a:buSzPct val="100000"/>
              <a:buChar char="•"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processing</a:t>
            </a:r>
            <a:endParaRPr lang="en-US" sz="1000" dirty="0"/>
          </a:p>
          <a:p>
            <a:pPr algn="l" marL="342900" indent="-342900">
              <a:buSzPct val="100000"/>
              <a:buChar char="•"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 decision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846320" y="914400"/>
            <a:ext cx="1920240" cy="3474720"/>
          </a:xfrm>
          <a:prstGeom prst="rect">
            <a:avLst/>
          </a:prstGeom>
          <a:solidFill>
            <a:srgbClr val="1E2761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10515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Week 3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83480" y="1463040"/>
            <a:ext cx="16459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build</a:t>
            </a:r>
            <a:endParaRPr lang="en-US" sz="1000" dirty="0"/>
          </a:p>
          <a:p>
            <a:pPr algn="l" marL="342900" indent="-342900">
              <a:buSzPct val="100000"/>
              <a:buChar char="•"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PPTX report build</a:t>
            </a:r>
            <a:endParaRPr lang="en-US" sz="1000" dirty="0"/>
          </a:p>
          <a:p>
            <a:pPr algn="l" marL="342900" indent="-342900">
              <a:buSzPct val="100000"/>
              <a:buChar char="•"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data test</a:t>
            </a:r>
            <a:endParaRPr lang="en-US" sz="1000" dirty="0"/>
          </a:p>
          <a:p>
            <a:pPr algn="l" marL="342900" indent="-342900">
              <a:buSzPct val="100000"/>
              <a:buChar char="•"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with RevOps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040880" y="914400"/>
            <a:ext cx="1920240" cy="3474720"/>
          </a:xfrm>
          <a:prstGeom prst="rect">
            <a:avLst/>
          </a:prstGeom>
          <a:solidFill>
            <a:srgbClr val="1E2761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0" y="10515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Week 4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178040" y="1463040"/>
            <a:ext cx="16459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ELT presentation</a:t>
            </a:r>
            <a:endParaRPr lang="en-US" sz="1000" dirty="0"/>
          </a:p>
          <a:p>
            <a:pPr algn="l" marL="342900" indent="-342900">
              <a:buSzPct val="100000"/>
              <a:buChar char="•"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&amp; iterate</a:t>
            </a:r>
            <a:endParaRPr lang="en-US" sz="1000" dirty="0"/>
          </a:p>
          <a:p>
            <a:pPr algn="l" marL="342900" indent="-342900">
              <a:buSzPct val="100000"/>
              <a:buChar char="•"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automation</a:t>
            </a:r>
            <a:endParaRPr lang="en-US" sz="1000" dirty="0"/>
          </a:p>
          <a:p>
            <a:pPr algn="l" marL="342900" indent="-342900">
              <a:buSzPct val="100000"/>
              <a:buChar char="•"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Retrospective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FB9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Target: First Global Intel Report delivered Week 4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61B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1 KPIs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828800" cy="2377440"/>
          </a:xfrm>
          <a:prstGeom prst="rect">
            <a:avLst/>
          </a:prstGeom>
          <a:solidFill>
            <a:srgbClr val="1E2761"/>
          </a:solidFill>
          <a:ln w="25400">
            <a:solidFill>
              <a:srgbClr val="CADCF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97280"/>
            <a:ext cx="1828800" cy="73152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41732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FB9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90%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2286000"/>
            <a:ext cx="16459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Accuracy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651760" y="1097280"/>
            <a:ext cx="1828800" cy="2377440"/>
          </a:xfrm>
          <a:prstGeom prst="rect">
            <a:avLst/>
          </a:prstGeom>
          <a:solidFill>
            <a:srgbClr val="1E2761"/>
          </a:solidFill>
          <a:ln w="25400">
            <a:solidFill>
              <a:srgbClr val="CADCF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651760" y="1097280"/>
            <a:ext cx="1828800" cy="73152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0" y="141732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2743200" y="2286000"/>
            <a:ext cx="16459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ELT Adoption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846320" y="1097280"/>
            <a:ext cx="1828800" cy="2377440"/>
          </a:xfrm>
          <a:prstGeom prst="rect">
            <a:avLst/>
          </a:prstGeom>
          <a:solidFill>
            <a:srgbClr val="1E2761"/>
          </a:solidFill>
          <a:ln w="25400">
            <a:solidFill>
              <a:srgbClr val="CADCF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46320" y="1097280"/>
            <a:ext cx="1828800" cy="73152"/>
          </a:xfrm>
          <a:prstGeom prst="rect">
            <a:avLst/>
          </a:prstGeom>
          <a:solidFill>
            <a:srgbClr val="D29922"/>
          </a:solidFill>
          <a:ln/>
        </p:spPr>
      </p:sp>
      <p:sp>
        <p:nvSpPr>
          <p:cNvPr id="13" name="Text 11"/>
          <p:cNvSpPr/>
          <p:nvPr/>
        </p:nvSpPr>
        <p:spPr>
          <a:xfrm>
            <a:off x="4937760" y="141732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299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&lt;24h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4937760" y="2286000"/>
            <a:ext cx="16459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to Insight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040880" y="1097280"/>
            <a:ext cx="1828800" cy="2377440"/>
          </a:xfrm>
          <a:prstGeom prst="rect">
            <a:avLst/>
          </a:prstGeom>
          <a:solidFill>
            <a:srgbClr val="1E2761"/>
          </a:solidFill>
          <a:ln w="25400">
            <a:solidFill>
              <a:srgbClr val="CADCF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040880" y="1097280"/>
            <a:ext cx="1828800" cy="73152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17" name="Text 15"/>
          <p:cNvSpPr/>
          <p:nvPr/>
        </p:nvSpPr>
        <p:spPr>
          <a:xfrm>
            <a:off x="7132320" y="141732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2x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7132320" y="2286000"/>
            <a:ext cx="16459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Detection Speed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61B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3-Horizon Strategy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2560320" cy="3291840"/>
          </a:xfrm>
          <a:prstGeom prst="rect">
            <a:avLst/>
          </a:prstGeom>
          <a:solidFill>
            <a:srgbClr val="1E2761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914400"/>
            <a:ext cx="2560320" cy="73152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0515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FB9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94360" y="135331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Intelligence Engine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169164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1920240"/>
            <a:ext cx="2286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win/loss analysis, automated risk detection, competitive intel extraction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94360" y="352044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94360" y="379476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94360" y="406908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Reports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91840" y="914400"/>
            <a:ext cx="2560320" cy="3291840"/>
          </a:xfrm>
          <a:prstGeom prst="rect">
            <a:avLst/>
          </a:prstGeom>
          <a:solidFill>
            <a:srgbClr val="1E2761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91840" y="914400"/>
            <a:ext cx="2560320" cy="73152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14" name="Text 12"/>
          <p:cNvSpPr/>
          <p:nvPr/>
        </p:nvSpPr>
        <p:spPr>
          <a:xfrm>
            <a:off x="3429000" y="10515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429000" y="135331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Intervention Layer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429000" y="169164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'26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429000" y="1920240"/>
            <a:ext cx="2286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alerts, deal coaching, predictive interventions, embedded in Salesforce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429000" y="352044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429000" y="379476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429000" y="406908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126480" y="914400"/>
            <a:ext cx="2560320" cy="3291840"/>
          </a:xfrm>
          <a:prstGeom prst="rect">
            <a:avLst/>
          </a:prstGeom>
          <a:solidFill>
            <a:srgbClr val="1E2761"/>
          </a:solidFill>
          <a:ln w="12700">
            <a:solidFill>
              <a:srgbClr val="D4A57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126480" y="914400"/>
            <a:ext cx="2560320" cy="73152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23" name="Text 21"/>
          <p:cNvSpPr/>
          <p:nvPr/>
        </p:nvSpPr>
        <p:spPr>
          <a:xfrm>
            <a:off x="6263640" y="10515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H3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263640" y="135331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Agentic Growth Force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263640" y="169164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 '26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263640" y="1920240"/>
            <a:ext cx="2286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deal management, predictive pipeline, automated opportunity creation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263640" y="352044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263640" y="379476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263640" y="406908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Future-proof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61B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Privacy Considerations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3931920" cy="3931920"/>
          </a:xfrm>
          <a:prstGeom prst="rect">
            <a:avLst/>
          </a:prstGeom>
          <a:solidFill>
            <a:srgbClr val="1E2761"/>
          </a:solidFill>
          <a:ln w="25400">
            <a:solidFill>
              <a:srgbClr val="D2992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515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D299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Action Required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35661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LLM API data privacy policies</a:t>
            </a:r>
            <a:endParaRPr lang="en-US" sz="1100" dirty="0"/>
          </a:p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data residency requirements</a:t>
            </a:r>
            <a:endParaRPr lang="en-US" sz="1100" dirty="0"/>
          </a:p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Obtain legal &amp; compliance sign-off</a:t>
            </a:r>
            <a:endParaRPr lang="en-US" sz="1100" dirty="0"/>
          </a:p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data handling agreements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754880" y="914400"/>
            <a:ext cx="3931920" cy="1874520"/>
          </a:xfrm>
          <a:prstGeom prst="rect">
            <a:avLst/>
          </a:prstGeom>
          <a:solidFill>
            <a:srgbClr val="1E2761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0" y="10515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FB9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Built-in Safeguards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937760" y="1417320"/>
            <a:ext cx="356616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scrubbing in pipeline</a:t>
            </a:r>
            <a:endParaRPr lang="en-US" sz="1100" dirty="0"/>
          </a:p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customer data in prompts</a:t>
            </a:r>
            <a:endParaRPr lang="en-US" sz="1100" dirty="0"/>
          </a:p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environment variables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2880360"/>
            <a:ext cx="3931920" cy="1965960"/>
          </a:xfrm>
          <a:prstGeom prst="rect">
            <a:avLst/>
          </a:prstGeom>
          <a:solidFill>
            <a:srgbClr val="1E2761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30175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 Mitigations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37760" y="3383280"/>
            <a:ext cx="35661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Provider-agnostic for on-prem option</a:t>
            </a:r>
            <a:endParaRPr lang="en-US" sz="1100" dirty="0"/>
          </a:p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minimization by default</a:t>
            </a:r>
            <a:endParaRPr lang="en-US" sz="1100" dirty="0"/>
          </a:p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audit logging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61B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Let's Make It Happen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828800" cy="3474720"/>
          </a:xfrm>
          <a:prstGeom prst="rect">
            <a:avLst/>
          </a:prstGeom>
          <a:solidFill>
            <a:srgbClr val="1E2761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1430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Mike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44475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 RevOps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874520"/>
            <a:ext cx="164592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field list</a:t>
            </a:r>
            <a:endParaRPr lang="en-US" sz="1000" dirty="0"/>
          </a:p>
          <a:p>
            <a:pPr algn="l" marL="342900" indent="-342900">
              <a:buSzPct val="100000"/>
              <a:buChar char="•"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CSV export</a:t>
            </a:r>
            <a:endParaRPr lang="en-US" sz="1000" dirty="0"/>
          </a:p>
          <a:p>
            <a:pPr algn="l" marL="342900" indent="-342900">
              <a:buSzPct val="100000"/>
              <a:buChar char="•"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sample data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60320" y="1005840"/>
            <a:ext cx="1828800" cy="3474720"/>
          </a:xfrm>
          <a:prstGeom prst="rect">
            <a:avLst/>
          </a:prstGeom>
          <a:solidFill>
            <a:srgbClr val="1E2761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51760" y="11430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Brad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651760" y="144475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Lead UK/ANZ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651760" y="1874520"/>
            <a:ext cx="164592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pipeline</a:t>
            </a:r>
            <a:endParaRPr lang="en-US" sz="1000" dirty="0"/>
          </a:p>
          <a:p>
            <a:pPr algn="l" marL="342900" indent="-342900">
              <a:buSzPct val="100000"/>
              <a:buChar char="•"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LLM engine</a:t>
            </a:r>
            <a:endParaRPr lang="en-US" sz="1000" dirty="0"/>
          </a:p>
          <a:p>
            <a:pPr algn="l" marL="342900" indent="-342900">
              <a:buSzPct val="100000"/>
              <a:buChar char="•"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prototype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63440" y="1005840"/>
            <a:ext cx="1828800" cy="3474720"/>
          </a:xfrm>
          <a:prstGeom prst="rect">
            <a:avLst/>
          </a:prstGeom>
          <a:solidFill>
            <a:srgbClr val="1E2761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11430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Steve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754880" y="144475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CIO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754880" y="1874520"/>
            <a:ext cx="164592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privacy review</a:t>
            </a:r>
            <a:endParaRPr lang="en-US" sz="1000" dirty="0"/>
          </a:p>
          <a:p>
            <a:pPr algn="l" marL="342900" indent="-342900">
              <a:buSzPct val="100000"/>
              <a:buChar char="•"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 decision</a:t>
            </a:r>
            <a:endParaRPr lang="en-US" sz="1000" dirty="0"/>
          </a:p>
          <a:p>
            <a:pPr algn="l" marL="342900" indent="-342900">
              <a:buSzPct val="100000"/>
              <a:buChar char="•"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 mgmt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766560" y="1005840"/>
            <a:ext cx="1828800" cy="3474720"/>
          </a:xfrm>
          <a:prstGeom prst="rect">
            <a:avLst/>
          </a:prstGeom>
          <a:solidFill>
            <a:srgbClr val="1E2761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0" y="11430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Pete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858000" y="144475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858000" y="1874520"/>
            <a:ext cx="164592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 &amp; blockers</a:t>
            </a:r>
            <a:endParaRPr lang="en-US" sz="1000" dirty="0"/>
          </a:p>
          <a:p>
            <a:pPr algn="l" marL="342900" indent="-342900">
              <a:buSzPct val="100000"/>
              <a:buChar char="•"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ELT needs</a:t>
            </a:r>
            <a:endParaRPr lang="en-US" sz="1000" dirty="0"/>
          </a:p>
          <a:p>
            <a:pPr algn="l" marL="342900" indent="-342900">
              <a:buSzPct val="100000"/>
              <a:buChar char="•"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to ELT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solidFill>
            <a:srgbClr val="1E2761"/>
          </a:solidFill>
          <a:ln w="25400">
            <a:solidFill>
              <a:srgbClr val="3FB95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47091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FB9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Target: First Global Intel Report delivered Week 4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Prism: Global Revenue Intelligence Engine</dc:title>
  <dc:subject>PptxGenJS Presentation</dc:subject>
  <dc:creator>Project Prism Team</dc:creator>
  <cp:lastModifiedBy>Project Prism Team</cp:lastModifiedBy>
  <cp:revision>1</cp:revision>
  <dcterms:created xsi:type="dcterms:W3CDTF">2026-02-09T11:11:15Z</dcterms:created>
  <dcterms:modified xsi:type="dcterms:W3CDTF">2026-02-09T11:11:15Z</dcterms:modified>
</cp:coreProperties>
</file>