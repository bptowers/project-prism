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0"/>
            <a:ext cx="3749040" cy="5143500"/>
          </a:xfrm>
          <a:prstGeom prst="rect">
            <a:avLst/>
          </a:prstGeom>
          <a:solidFill>
            <a:srgbClr val="172258"/>
          </a:solidFill>
          <a:ln w="12700">
            <a:solidFill>
              <a:srgbClr val="1722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72E8"/>
          </a:solidFill>
          <a:ln w="12700">
            <a:solidFill>
              <a:srgbClr val="3B72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7A9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SIMPRO GROUP  ·  CONFIDENTIAL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Prism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Revenue Intelligence Engine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94436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9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workflow walkthrough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A9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RevOps leadership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23560" y="502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7A9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23560" y="914400"/>
            <a:ext cx="45720" cy="274320"/>
          </a:xfrm>
          <a:prstGeom prst="rect">
            <a:avLst/>
          </a:prstGeom>
          <a:solidFill>
            <a:srgbClr val="3B72E8"/>
          </a:solidFill>
          <a:ln w="12700">
            <a:solidFill>
              <a:srgbClr val="3B72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79008" y="91440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Prism solves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23560" y="1527048"/>
            <a:ext cx="45720" cy="274320"/>
          </a:xfrm>
          <a:prstGeom prst="rect">
            <a:avLst/>
          </a:prstGeom>
          <a:solidFill>
            <a:srgbClr val="3B72E8"/>
          </a:solidFill>
          <a:ln w="12700">
            <a:solidFill>
              <a:srgbClr val="3B7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79008" y="152704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system architecture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23560" y="2139696"/>
            <a:ext cx="45720" cy="274320"/>
          </a:xfrm>
          <a:prstGeom prst="rect">
            <a:avLst/>
          </a:prstGeom>
          <a:solidFill>
            <a:srgbClr val="3B72E8"/>
          </a:solidFill>
          <a:ln w="12700">
            <a:solidFill>
              <a:srgbClr val="3B72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79008" y="2139696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analysis engine (3 passes)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23560" y="2752344"/>
            <a:ext cx="45720" cy="274320"/>
          </a:xfrm>
          <a:prstGeom prst="rect">
            <a:avLst/>
          </a:prstGeom>
          <a:solidFill>
            <a:srgbClr val="3B72E8"/>
          </a:solidFill>
          <a:ln w="12700">
            <a:solidFill>
              <a:srgbClr val="3B72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79008" y="275234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what leadership sees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23560" y="3364992"/>
            <a:ext cx="45720" cy="274320"/>
          </a:xfrm>
          <a:prstGeom prst="rect">
            <a:avLst/>
          </a:prstGeom>
          <a:solidFill>
            <a:srgbClr val="3B72E8"/>
          </a:solidFill>
          <a:ln w="12700">
            <a:solidFill>
              <a:srgbClr val="3B72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79008" y="336499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Pete's 20 Questions — Phase 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23560" y="3977640"/>
            <a:ext cx="45720" cy="274320"/>
          </a:xfrm>
          <a:prstGeom prst="rect">
            <a:avLst/>
          </a:prstGeom>
          <a:solidFill>
            <a:srgbClr val="3B72E8"/>
          </a:solidFill>
          <a:ln w="12700">
            <a:solidFill>
              <a:srgbClr val="3B72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79008" y="39776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status &amp; next steps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31C4E"/>
          </a:solidFill>
          <a:ln w="12700">
            <a:solidFill>
              <a:srgbClr val="131C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72744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 Towers  ·  SE Lead UK &amp; ANZ  ·  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DOES PRISM SOLVE?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38862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73152" cy="4069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9611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Without Prism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12064" y="1344168"/>
            <a:ext cx="358444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reviews take days of manual work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 relies on rep self-reporting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pipeline buried in Salesforce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early warning on deals that will slip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intelligence scattered across notes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calls are backward-looking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coaching based on instinct, not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33672" y="254203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919472" y="804672"/>
            <a:ext cx="38862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19472" y="804672"/>
            <a:ext cx="73152" cy="4069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02352" y="89611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PRISM — Automated Weekly Intelligence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11496" y="1344168"/>
            <a:ext cx="358444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analysis in under 5 minutes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reads every deal, every rep, every week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pipeline surfaced automatically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 risk deals flagged with named evidence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intel extracted per deal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Forward-looking forecasts with confidence scores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Engagement-based rep health scoring with names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END TO END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155448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15544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9768" y="1389888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29844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CSV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9768" y="1572768"/>
            <a:ext cx="14081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weekly export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9768" y="2414016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322576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9768" y="2596896"/>
            <a:ext cx="14081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warehouse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9768" y="343814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3346704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Scheduler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9768" y="3621024"/>
            <a:ext cx="14081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6am UTC auto-run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92808" y="235915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2057400" y="731520"/>
            <a:ext cx="1554480" cy="4114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57400" y="731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057400" y="1143000"/>
            <a:ext cx="15544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167128" y="1389888"/>
            <a:ext cx="91440" cy="9144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13432" y="129844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Parser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167128" y="1572768"/>
            <a:ext cx="14081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mapping + region detection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67128" y="2414016"/>
            <a:ext cx="91440" cy="9144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13432" y="2322576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167128" y="2596896"/>
            <a:ext cx="14081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scoring + PII scrub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167128" y="3438144"/>
            <a:ext cx="91440" cy="9144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13432" y="3346704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167128" y="3621024"/>
            <a:ext cx="14081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gs://project-prism-uploads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30168" y="235915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3794760" y="731520"/>
            <a:ext cx="1554480" cy="411480"/>
          </a:xfrm>
          <a:prstGeom prst="rect">
            <a:avLst/>
          </a:prstGeom>
          <a:solidFill>
            <a:srgbClr val="3B72E8"/>
          </a:solidFill>
          <a:ln w="12700">
            <a:solidFill>
              <a:srgbClr val="3B72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94760" y="731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794760" y="1143000"/>
            <a:ext cx="15544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904488" y="1389888"/>
            <a:ext cx="91440" cy="91440"/>
          </a:xfrm>
          <a:prstGeom prst="ellipse">
            <a:avLst/>
          </a:prstGeom>
          <a:solidFill>
            <a:srgbClr val="3B72E8"/>
          </a:solidFill>
          <a:ln w="12700">
            <a:solidFill>
              <a:srgbClr val="3B72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50792" y="129844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Analyzer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904488" y="1572768"/>
            <a:ext cx="14081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deals/batch, concurrent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904488" y="2414016"/>
            <a:ext cx="91440" cy="91440"/>
          </a:xfrm>
          <a:prstGeom prst="ellipse">
            <a:avLst/>
          </a:prstGeom>
          <a:solidFill>
            <a:srgbClr val="3B72E8"/>
          </a:solidFill>
          <a:ln w="12700">
            <a:solidFill>
              <a:srgbClr val="3B72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50792" y="2322576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904488" y="2596896"/>
            <a:ext cx="14081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+ global rollup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904488" y="3438144"/>
            <a:ext cx="91440" cy="91440"/>
          </a:xfrm>
          <a:prstGeom prst="ellipse">
            <a:avLst/>
          </a:prstGeom>
          <a:solidFill>
            <a:srgbClr val="3B72E8"/>
          </a:solidFill>
          <a:ln w="12700">
            <a:solidFill>
              <a:srgbClr val="3B72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50792" y="3346704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904488" y="3621024"/>
            <a:ext cx="14081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Pete's 7 exec intel questions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367528" y="235915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5532120" y="731520"/>
            <a:ext cx="155448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32120" y="731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532120" y="1143000"/>
            <a:ext cx="15544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641848" y="1389888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88152" y="129844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DB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641848" y="1572768"/>
            <a:ext cx="14081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indexed by date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641848" y="2414016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88152" y="2322576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641848" y="2596896"/>
            <a:ext cx="14081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Per-deal LLM output stored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641848" y="3438144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88152" y="3346704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 Logs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641848" y="3621024"/>
            <a:ext cx="14081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run metadata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104888" y="235915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56" name="Shape 54"/>
          <p:cNvSpPr/>
          <p:nvPr/>
        </p:nvSpPr>
        <p:spPr>
          <a:xfrm>
            <a:off x="7269480" y="731520"/>
            <a:ext cx="155448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69480" y="731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269480" y="1143000"/>
            <a:ext cx="15544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7379208" y="1389888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525512" y="129844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7379208" y="1572768"/>
            <a:ext cx="14081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project-prism URL (live)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379208" y="2414016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525512" y="2322576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Tabs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7379208" y="2596896"/>
            <a:ext cx="14081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· UK · ANZ · EMEA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379208" y="3438144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525512" y="3346704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Pete's 20 Panel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379208" y="3621024"/>
            <a:ext cx="14081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tab Pete sees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italic" pitchFamily="34" charset="0"/>
                <a:ea typeface="Calibri italic" pitchFamily="34" charset="-122"/>
                <a:cs typeface="Calibri italic" pitchFamily="34" charset="-120"/>
              </a:rPr>
              <a:t>Automated weekly run  ·  On-demand CSV upload  ·  Real-time via BigQuery fetch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ANALYSIS ENGINE — THREE-PASS ARCHITECTURE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65176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PASS 1</a:t>
            </a:r>
            <a:pPr algn="ctr" indent="0" marL="0">
              <a:buNone/>
            </a:pPr>
            <a:r>
              <a:rPr lang="en-US" sz="1050" dirty="0">
                <a:solidFill>
                  <a:srgbClr val="CCE0FF"/>
                </a:solidFill>
              </a:rPr>
              <a:t>  Deal-Level Analysis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07592"/>
            <a:ext cx="26517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463040"/>
            <a:ext cx="23774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opportunity processed individually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deals per LLM batch · concurrent execution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 retry on failures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per deal: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Revenue themes &amp; buying signals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5 risk signal types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Competitor mentions &amp; context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Sentiment score (0–10)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Win probability estimate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structured JSON per deal → Firestore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777240"/>
            <a:ext cx="2651760" cy="530352"/>
          </a:xfrm>
          <a:prstGeom prst="rect">
            <a:avLst/>
          </a:prstGeom>
          <a:solidFill>
            <a:srgbClr val="3B72E8"/>
          </a:solidFill>
          <a:ln w="12700">
            <a:solidFill>
              <a:srgbClr val="3B7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77724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PASS 2</a:t>
            </a:r>
            <a:pPr algn="ctr" indent="0" marL="0">
              <a:buNone/>
            </a:pPr>
            <a:r>
              <a:rPr lang="en-US" sz="1050" dirty="0">
                <a:solidFill>
                  <a:srgbClr val="CCE0FF"/>
                </a:solidFill>
              </a:rPr>
              <a:t>  Portfolio Aggregation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1307592"/>
            <a:ext cx="26517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1463040"/>
            <a:ext cx="23774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all Pass 1 deal-level results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and aggregates by sales region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Cross-deal pattern detection at scale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Regional health scores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Top risks &amp; themes by region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Competitor landscape view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Ghost pipeline detection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Stage bottleneck analysis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aggregated report → Firestore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777240"/>
            <a:ext cx="2651760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77724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PASS 3</a:t>
            </a:r>
            <a:pPr algn="ctr" indent="0" marL="0">
              <a:buNone/>
            </a:pPr>
            <a:r>
              <a:rPr lang="en-US" sz="1050" dirty="0">
                <a:solidFill>
                  <a:srgbClr val="CCE0FF"/>
                </a:solidFill>
              </a:rPr>
              <a:t>  Pete's 20 Questions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1307592"/>
            <a:ext cx="26517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5080" y="1463040"/>
            <a:ext cx="23774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aggregated portfolio report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specific executive questions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and deal names included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(leadership intelligence, not PII)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per question: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Tables of at-risk deals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Forecast delta calculations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Rep health rankings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Stage bottleneck summaries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JSON → /reports/{date}/twentyQuestions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898648" y="2944368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870448" y="2944368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74320" y="4754880"/>
            <a:ext cx="8595360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DDE3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756709"/>
            <a:ext cx="822960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 is swappable via environment variable — Claude (Anthropic), Gemini (Google), or OpenAI  ·  Currently: Claude Sonnet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— WHAT LEADERSHIP SEES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64008" cy="1737360"/>
          </a:xfrm>
          <a:prstGeom prst="rect">
            <a:avLst/>
          </a:prstGeom>
          <a:solidFill>
            <a:srgbClr val="3B72E8"/>
          </a:solidFill>
          <a:ln w="12700">
            <a:solidFill>
              <a:srgbClr val="3B7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" y="868680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7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Briefing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6344" y="1261872"/>
            <a:ext cx="239572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narrative summary of pipeline health. Top risks, key themes, and focus areas for the CRO. Updated every weekly run.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77724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777240"/>
            <a:ext cx="64008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92424" y="868680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Row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92424" y="1261872"/>
            <a:ext cx="239572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pipeline MRR, deal count, average deal size, and win rate snapshot — broken out by region and synced to each run.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77724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777240"/>
            <a:ext cx="64008" cy="173736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868680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Funnel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18504" y="1261872"/>
            <a:ext cx="239572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Stage-by-stage deal counts and MRR. Visual funnel with bottleneck highlighting and stuck-deal identification.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65176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651760"/>
            <a:ext cx="64008" cy="1737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" y="2743200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Radar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344" y="3136392"/>
            <a:ext cx="239572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blind spots, absent champions, stalled deals, sentiment drops, and high-risk signals surfaced per deal.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46120" y="265176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651760"/>
            <a:ext cx="64008" cy="1737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92424" y="2743200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Intel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92424" y="3136392"/>
            <a:ext cx="239572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competitors extracted per deal. Win/loss signal correlation. Deal size by competitor. Out-of-region alerts.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72200" y="265176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2651760"/>
            <a:ext cx="64008" cy="1737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18504" y="2743200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Pete's 20 Questions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18504" y="3136392"/>
            <a:ext cx="239572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executive intelligence panels. Slip risk tables, ghost pipeline delta, rep health rankings — with rep and deal names.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31C4E"/>
          </a:solidFill>
          <a:ln w="12700">
            <a:solidFill>
              <a:srgbClr val="131C4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72744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 (sample data):  https://project-prism-489108-a9e2b.web.app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PETE'S 20 QUESTIONS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7 executive intelligence panels built into the Pass 3 LLM analysis layer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1920240" cy="1389888"/>
          </a:xfrm>
          <a:prstGeom prst="rect">
            <a:avLst/>
          </a:prstGeom>
          <a:solidFill>
            <a:srgbClr val="1A2558"/>
          </a:solidFill>
          <a:ln w="12700">
            <a:solidFill>
              <a:srgbClr val="2A35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4632" y="1389888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389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" y="1417320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 Risk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837944"/>
            <a:ext cx="170078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Q close dates will actually slip? Table: rep name, region, MRR, reason.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87168" y="1261872"/>
            <a:ext cx="1920240" cy="1389888"/>
          </a:xfrm>
          <a:prstGeom prst="rect">
            <a:avLst/>
          </a:prstGeom>
          <a:solidFill>
            <a:srgbClr val="1A2558"/>
          </a:solidFill>
          <a:ln w="12700">
            <a:solidFill>
              <a:srgbClr val="2A35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06040" y="1389888"/>
            <a:ext cx="365760" cy="365760"/>
          </a:xfrm>
          <a:prstGeom prst="ellipse">
            <a:avLst/>
          </a:prstGeom>
          <a:solidFill>
            <a:srgbClr val="3B72E8"/>
          </a:solidFill>
          <a:ln w="12700">
            <a:solidFill>
              <a:srgbClr val="3B7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389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54096" y="1417320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Pipeline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96896" y="1837944"/>
            <a:ext cx="170078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MRR vs. real MRR. Delta between what reps say and what LLM sees.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08576" y="1261872"/>
            <a:ext cx="1920240" cy="1389888"/>
          </a:xfrm>
          <a:prstGeom prst="rect">
            <a:avLst/>
          </a:prstGeom>
          <a:solidFill>
            <a:srgbClr val="1A2558"/>
          </a:solidFill>
          <a:ln w="12700">
            <a:solidFill>
              <a:srgbClr val="2A35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27448" y="1389888"/>
            <a:ext cx="365760" cy="36576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7448" y="1389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75504" y="1417320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Health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8304" y="1837944"/>
            <a:ext cx="170078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and bottom 3 reps by engagement quality. Named, with reasoning.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29984" y="1261872"/>
            <a:ext cx="1920240" cy="1389888"/>
          </a:xfrm>
          <a:prstGeom prst="rect">
            <a:avLst/>
          </a:prstGeom>
          <a:solidFill>
            <a:srgbClr val="1A2558"/>
          </a:solidFill>
          <a:ln w="12700">
            <a:solidFill>
              <a:srgbClr val="2A35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48856" y="1389888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48856" y="1389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296912" y="1417320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Signal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39712" y="1837944"/>
            <a:ext cx="170078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regions believe they are accelerating but are actually decelerating?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4672" y="2798064"/>
            <a:ext cx="2560320" cy="1417320"/>
          </a:xfrm>
          <a:prstGeom prst="rect">
            <a:avLst/>
          </a:prstGeom>
          <a:solidFill>
            <a:srgbClr val="1A2558"/>
          </a:solidFill>
          <a:ln w="12700">
            <a:solidFill>
              <a:srgbClr val="2A35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3544" y="2926080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3544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371600" y="2953512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Laggards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3374136"/>
            <a:ext cx="234086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with low momentum: stalled stage, no next steps, long time in stage.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566160" y="2798064"/>
            <a:ext cx="2560320" cy="1417320"/>
          </a:xfrm>
          <a:prstGeom prst="rect">
            <a:avLst/>
          </a:prstGeom>
          <a:solidFill>
            <a:srgbClr val="1A2558"/>
          </a:solidFill>
          <a:ln w="12700">
            <a:solidFill>
              <a:srgbClr val="2A357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85032" y="2926080"/>
            <a:ext cx="365760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85032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33088" y="2953512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Bottleneck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75888" y="3374136"/>
            <a:ext cx="234086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stage has the most stuck MRR? Deal count + days stuck + cause.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327648" y="2798064"/>
            <a:ext cx="2560320" cy="1417320"/>
          </a:xfrm>
          <a:prstGeom prst="rect">
            <a:avLst/>
          </a:prstGeom>
          <a:solidFill>
            <a:srgbClr val="1A2558"/>
          </a:solidFill>
          <a:ln w="12700">
            <a:solidFill>
              <a:srgbClr val="2A357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46520" y="2926080"/>
            <a:ext cx="365760" cy="3657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94576" y="2953512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Risk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37376" y="3374136"/>
            <a:ext cx="234086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forecast vs. committed pipeline. At-risk deal table with confidence.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65760" y="4407408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2 &amp; 3 (Q8–Q20) backlogged: forecast bias detection, pipeline quality trends, Kaizen loop tracking, growth quality analysis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31C4E"/>
          </a:solidFill>
          <a:ln w="12700">
            <a:solidFill>
              <a:srgbClr val="131C4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72744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feature Pete cares about most — the LLM asks his exact questions on every weekly run, with rep and deal names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STATUS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960120" cy="5303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371600" y="86868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371600" y="1097280"/>
            <a:ext cx="7360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 Firebase Hosting  ·  project-prism-489108-a9e2b.web.app  ·  Currently showing sample data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444752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44752"/>
            <a:ext cx="960120" cy="5303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44752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371600" y="149047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Database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371600" y="1719072"/>
            <a:ext cx="7360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storage configured  ·  Free tier  ·  All 3 analysis passes stored per execution run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066544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066544"/>
            <a:ext cx="960120" cy="5303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066544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371600" y="211226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Analysis Prompts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371600" y="2340864"/>
            <a:ext cx="7360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passes written and tested  ·  Pete's 20 Questions Phase 1 (Q1–Q7) complete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688336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688336"/>
            <a:ext cx="960120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688336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371600" y="273405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Functions (6)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371600" y="2962656"/>
            <a:ext cx="7360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complete and tested — ready to deploy  ·  Blocked: IT Blaze billing upgrade required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310128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310128"/>
            <a:ext cx="960120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310128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371600" y="335584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Storage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371600" y="3584448"/>
            <a:ext cx="7360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upload bucket configured and rules written  ·  Blocked: Blaze billing  ·  IT request submitted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931920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931920"/>
            <a:ext cx="960120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931920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371600" y="397764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Connection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371600" y="4206240"/>
            <a:ext cx="7360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code written  ·  Waiting on: BQ project ID, dataset name, and table name from data team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31C4E"/>
          </a:solidFill>
          <a:ln w="12700">
            <a:solidFill>
              <a:srgbClr val="131C4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72744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once billing is enabled:  firebase deploy --only functions,storage  → full system live with real Salesforce data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72E8"/>
          </a:solidFill>
          <a:ln w="12700">
            <a:solidFill>
              <a:srgbClr val="3B72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172258"/>
          </a:solidFill>
          <a:ln w="12700">
            <a:solidFill>
              <a:srgbClr val="17225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4663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dig in.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walk through any layer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architecture in detail.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532120" y="4754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7A9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532120" y="84124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3B7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532120" y="10515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Pete's AI-First CRO book → production system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532120" y="149961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3B7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32120" y="170992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CSV + BigQuery live data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32120" y="215798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3B7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532120" y="236829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3-pass LLM analysis (Claude Sonnet)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32120" y="281635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3B7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532120" y="302666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Pete's 20 Questions — Phase 1 complete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32120" y="34747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3B7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532120" y="36850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at project-prism-489108 URL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32120" y="413308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3B7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532120" y="43434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Blaze billing → full backend deploy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31C4E"/>
          </a:solidFill>
          <a:ln w="12700">
            <a:solidFill>
              <a:srgbClr val="131C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72744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 Towers  ·  SE Lead UK &amp; ANZ  ·  brad.towers@simprogroup.com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Prism — Architecture Walkthrough</dc:title>
  <dc:subject>PptxGenJS Presentation</dc:subject>
  <dc:creator>PptxGenJS</dc:creator>
  <cp:lastModifiedBy>PptxGenJS</cp:lastModifiedBy>
  <cp:revision>1</cp:revision>
  <dcterms:created xsi:type="dcterms:W3CDTF">2026-03-05T14:28:19Z</dcterms:created>
  <dcterms:modified xsi:type="dcterms:W3CDTF">2026-03-05T14:28:19Z</dcterms:modified>
</cp:coreProperties>
</file>